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84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 BENI MELLAL  ·  IA &amp; CYBERSÉCURITÉ  ·  CRYPTOGRAPHIE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Detector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5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 faiblesses post-quantiques par 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Achraf HAMOUDA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-OUNACHAD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6035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481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47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cryptographie post-quantique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95160" y="1481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1847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solides, implémentations faibles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441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8072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5 couches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423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62179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2441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28072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de faiblesses, 6 fichiers annotés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401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AST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767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features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621792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95160" y="3401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3767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fine-tuné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8" name="Text 26"/>
          <p:cNvSpPr/>
          <p:nvPr/>
        </p:nvSpPr>
        <p:spPr>
          <a:xfrm>
            <a:off x="54864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25880" y="4361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&amp; Tests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727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complet, 100% accuracy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343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30"/>
          <p:cNvSpPr/>
          <p:nvPr/>
        </p:nvSpPr>
        <p:spPr>
          <a:xfrm>
            <a:off x="621792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95160" y="4361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4727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Text 34"/>
          <p:cNvSpPr/>
          <p:nvPr/>
        </p:nvSpPr>
        <p:spPr>
          <a:xfrm>
            <a:off x="54864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25880" y="53218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25880" y="5687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en action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303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0" name="Text 38"/>
          <p:cNvSpPr/>
          <p:nvPr/>
        </p:nvSpPr>
        <p:spPr>
          <a:xfrm>
            <a:off x="62179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95160" y="53218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95160" y="5687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menace quantique sur la cryptographie classique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8F1F8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Cryptographie classique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 ·  ECC  ·  Diffie-Hellman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Cassée par l'algorithme de Shor sur ordinateur quantique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Quelques secondes au lieu de millions d'années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Toute la sécurité internet actuelle menacée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Cryptographie post-quantique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5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  ·  Dilithium  ·  Falcon  ·  SPHINCS+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Résistante aux attaques quantiques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Basée sur les réseaux euclidiens (lattices)
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Standardisée par le NIST en 2024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Problématique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coffre-fort parfait laissé ouvert n'offre aucune protection.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 et Dilithium sont mathématiquement solides — c'est leur utilisation qui est risquée.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Shape 5"/>
          <p:cNvSpPr/>
          <p:nvPr/>
        </p:nvSpPr>
        <p:spPr>
          <a:xfrm>
            <a:off x="1508760" y="34747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150876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aléatoire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800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random.randint au lieu de os.urandom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32004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Shape 10"/>
          <p:cNvSpPr/>
          <p:nvPr/>
        </p:nvSpPr>
        <p:spPr>
          <a:xfrm>
            <a:off x="4297680" y="34747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429768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4297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 de clé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4800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clé/nonce pour plusieurs chiffrements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Shape 15"/>
          <p:cNvSpPr/>
          <p:nvPr/>
        </p:nvSpPr>
        <p:spPr>
          <a:xfrm>
            <a:off x="7086600" y="34747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8" name="Text 16"/>
          <p:cNvSpPr/>
          <p:nvPr/>
        </p:nvSpPr>
        <p:spPr>
          <a:xfrm>
            <a:off x="708660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4297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faibles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4800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security_level=512 au lieu de 768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32004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2" name="Shape 20"/>
          <p:cNvSpPr/>
          <p:nvPr/>
        </p:nvSpPr>
        <p:spPr>
          <a:xfrm>
            <a:off x="9875520" y="34747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987552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006840" y="4297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verify() ignoré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0" y="48006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retour de verify() n'est pas vérifié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Architecture en 5 couches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1508760" y="158191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600200"/>
            <a:ext cx="0" cy="502920"/>
          </a:xfrm>
          <a:prstGeom prst="line">
            <a:avLst/>
          </a:prstGeom>
          <a:noFill/>
          <a:ln w="190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3383280" y="15819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Python / C (PQC)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22402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1508760" y="25420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0" cy="502920"/>
          </a:xfrm>
          <a:prstGeom prst="line">
            <a:avLst/>
          </a:prstGeom>
          <a:noFill/>
          <a:ln w="190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3383280" y="254203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l'AST · imports · appels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32004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38328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1508760" y="350215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520440"/>
            <a:ext cx="0" cy="502920"/>
          </a:xfrm>
          <a:prstGeom prst="line">
            <a:avLst/>
          </a:prstGeom>
          <a:noFill/>
          <a:ln w="190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3383280" y="350215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CSPRNG · paramètres · réutilisation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4160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434340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0E8AA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1508760" y="44622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4480560"/>
            <a:ext cx="0" cy="502920"/>
          </a:xfrm>
          <a:prstGeom prst="line">
            <a:avLst/>
          </a:prstGeom>
          <a:noFill/>
          <a:ln w="190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3383280" y="446227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fine-tuné · règles statiques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0" y="5120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8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71600" y="530352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11A7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1508760" y="54223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5440680"/>
            <a:ext cx="0" cy="502920"/>
          </a:xfrm>
          <a:prstGeom prst="line">
            <a:avLst/>
          </a:prstGeom>
          <a:noFill/>
          <a:ln w="190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6" name="Text 24"/>
          <p:cNvSpPr/>
          <p:nvPr/>
        </p:nvSpPr>
        <p:spPr>
          <a:xfrm>
            <a:off x="3383280" y="542239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· sévérité · suggestion de fix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Construction du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dataset/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vulnerable/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bad_random_1.py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key_reuse_1.py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wrong_params_1.py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└── no_verify_1.py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clean/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4F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 correct_kyber_1.py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4F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correct_dilithium_1.py
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D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Chaque .py + son .json d'annotation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JSON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"algorithm": </a:t>
            </a:r>
            <a:r>
              <a:rPr lang="en-US" sz="1200" dirty="0">
                <a:solidFill>
                  <a:srgbClr val="2F8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"Kyber768",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</a:t>
            </a:r>
            <a:r>
              <a:rPr lang="en-US" sz="1200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"vulnerable",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"weakness_type": </a:t>
            </a:r>
            <a:r>
              <a:rPr lang="en-US" sz="1200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"weak_randomness",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"severity": </a:t>
            </a:r>
            <a:r>
              <a:rPr lang="en-US" sz="1200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"critical",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</a:t>
            </a:r>
            <a:r>
              <a:rPr lang="en-US" sz="1200" dirty="0">
                <a:solidFill>
                  <a:srgbClr val="B77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"random.randint instead
     of os.urandom..."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BFB4633-F1E8-484F-317D-97F2AA29A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72" y="5468223"/>
            <a:ext cx="9173855" cy="1133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Module de parsing AST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0" cy="5120640"/>
          </a:xfrm>
          <a:prstGeom prst="roundRect">
            <a:avLst>
              <a:gd name="adj" fmla="val 1071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analysé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kyber_py.kyber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Kyber768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generate_seed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(length=32):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bytes([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random.</a:t>
            </a:r>
            <a:r>
              <a:rPr lang="en-US" sz="1300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(0,255)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_ in range(length)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3657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76656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extraites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66560" y="1920240"/>
            <a:ext cx="5029200" cy="50292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 w="9525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690372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uses_random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0" y="19659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560320"/>
            <a:ext cx="50292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6903720" y="2606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uses_os_urandom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0" y="2606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3200400"/>
            <a:ext cx="5029200" cy="50292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 w="9525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690372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weak_random_calls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0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[random.randint]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840480"/>
            <a:ext cx="50292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Text 16"/>
          <p:cNvSpPr/>
          <p:nvPr/>
        </p:nvSpPr>
        <p:spPr>
          <a:xfrm>
            <a:off x="6903720" y="3886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3886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random, kyber_py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4480560"/>
            <a:ext cx="5029200" cy="502920"/>
          </a:xfrm>
          <a:prstGeom prst="roundRect">
            <a:avLst>
              <a:gd name="adj" fmla="val 7273"/>
            </a:avLst>
          </a:prstGeom>
          <a:solidFill>
            <a:srgbClr val="F4F8FB"/>
          </a:solidFill>
          <a:ln w="9525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6903720" y="4526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0" y="4526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5120640"/>
            <a:ext cx="50292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6903720" y="5166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5166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Modèle d'intelligence artificielle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fine-tuné pour la classification vulnérable / sain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label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22860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C7293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35204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tokens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22860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C7293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50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HF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23960" y="22860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C7293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918972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8972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8972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· P · R · F1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611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CodeBERT 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3"/>
          <p:cNvSpPr/>
          <p:nvPr/>
        </p:nvSpPr>
        <p:spPr>
          <a:xfrm>
            <a:off x="731520" y="4343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Pré-entraîné sur du code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5577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 déjà la syntaxe Python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43400" y="416052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9" name="Text 27"/>
          <p:cNvSpPr/>
          <p:nvPr/>
        </p:nvSpPr>
        <p:spPr>
          <a:xfrm>
            <a:off x="4526280" y="4343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52628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données requises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26280" y="5577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notre dataset compact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38160" y="416052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3" name="Text 31"/>
          <p:cNvSpPr/>
          <p:nvPr/>
        </p:nvSpPr>
        <p:spPr>
          <a:xfrm>
            <a:off x="8321040" y="4343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32104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interprétables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1040" y="5577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 comprend le pourquoi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CLI &amp; Tests end-to-end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0" cy="5120640"/>
          </a:xfrm>
          <a:prstGeom prst="roundRect">
            <a:avLst>
              <a:gd name="adj" fmla="val 1071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cli.py bad_random_1.py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PQC Detector report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A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     : 24 LOC, 2 imports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 : uses_random=True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Findings : 1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• weak_randomness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severity : critical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line     : 12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4F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fix      : os.urandom(32)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des tests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6355080" y="310896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accuracy sur le dataset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406908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6355080" y="4160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4709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406908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8183880" y="4160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83880" y="4709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12680" y="406908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10012680" y="4160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12680" y="4709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5349240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3EF4048C-F79C-50C4-FEB3-5543A640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76" y="5233335"/>
            <a:ext cx="5014608" cy="15692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Interface utilisateur web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· FastAPI · Vite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(FastAPI)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492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685800" y="2359152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685800" y="2359152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235915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3492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685800" y="3136392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685800" y="3136392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1363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492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2"/>
          <p:cNvSpPr/>
          <p:nvPr/>
        </p:nvSpPr>
        <p:spPr>
          <a:xfrm>
            <a:off x="685800" y="3913632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685800" y="3913632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39136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/analyze/upload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 l'interface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63640" y="2240280"/>
            <a:ext cx="5532120" cy="4206240"/>
          </a:xfrm>
          <a:prstGeom prst="rect">
            <a:avLst/>
          </a:prstGeom>
          <a:solidFill>
            <a:srgbClr val="F2F5FA"/>
          </a:solidFill>
          <a:ln w="15240">
            <a:solidFill>
              <a:srgbClr val="8FAADC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6263640" y="2240280"/>
            <a:ext cx="55321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Interface PQC Detector — résultat d'une analyse</a:t>
            </a:r>
            <a:endParaRPr lang="en-US" sz="12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E42174FD-79B1-CC05-0649-E60943164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812" y="2156460"/>
            <a:ext cx="5565775" cy="4290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Démonstration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en direct de l'outil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532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Frontend — fichier uploadé</a:t>
            </a:r>
            <a:endParaRPr lang="en-US" sz="12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C5B8FE1-D25C-CD81-A0AF-4E01D1CC3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38" y="1450777"/>
            <a:ext cx="5043724" cy="270974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73962E3-E55A-C267-1766-D39992146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398" y="1368708"/>
            <a:ext cx="5196482" cy="279181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C4BE208-E3BB-CF72-484A-CF65AA03D2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692" t="48846" r="20506" b="5827"/>
          <a:stretch>
            <a:fillRect/>
          </a:stretch>
        </p:blipFill>
        <p:spPr>
          <a:xfrm>
            <a:off x="792838" y="4251960"/>
            <a:ext cx="5043724" cy="255782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67BEFB0-3FE9-5D62-E1DD-185095B19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342151"/>
            <a:ext cx="554718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en 5 couches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annoté de 4 types de faiblesses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AST + détecteurs à base de règles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fine-tuné, pipeline IA opérationnel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sur le dataset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complet (React + FastAPI)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6364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63640" y="187452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le dataset (centaines d'exemples)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Falcon et SPHINCS+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interprocédurale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CI/CD
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canaux auxiliaires (timing)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7D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0" y="49377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6080760" y="49377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6675120" y="49377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851</Words>
  <Application>Microsoft Office PowerPoint</Application>
  <PresentationFormat>Grand écran</PresentationFormat>
  <Paragraphs>214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PQC Detector — Présentation</dc:title>
  <dc:subject>PptxGenJS Presentation</dc:subject>
  <dc:creator>PptxGenJS</dc:creator>
  <cp:lastModifiedBy>ACHRAF HAMOUDA</cp:lastModifiedBy>
  <cp:revision>2</cp:revision>
  <dcterms:created xsi:type="dcterms:W3CDTF">2026-05-05T12:33:45Z</dcterms:created>
  <dcterms:modified xsi:type="dcterms:W3CDTF">2026-05-05T20:44:34Z</dcterms:modified>
</cp:coreProperties>
</file>